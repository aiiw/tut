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这份速查讲三个符号：点号、井号、艾特号。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它们不是新函数，是 Excel 365 动态数组时代的引用写法。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写对了公式又短又稳，写错了要么报错、要么结果里平白多出一个 0。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全篇用一个真实场景串起来：把 A 列筛选、去重、编号。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全篇回答四个问题，顺序就是解决问题的顺序。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先看清楚"结果多出一个 0"到底怎么来的，再认识三个符号各自管什么。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然后是三组最容易记混的写法对比。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最后拿一个真实报错的 LET 公式，从错改到能用。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先把场景摆出来：A2 到 A101 是一列数据，你只想拿到去重后的非零值。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公式一写，结果尾巴上多出一个 0；或者你在 LET 里写 SEQUENCE(n1)，直接报 #CALC!。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这时候大多数人会去改函数，其实函数没错。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真正的原因在你圈的那块区域上——这页先不给答案，往下三页把它拆开。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第一个符号就是冒号后面加的那个小数点。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A2:A101 是死区域，尾部空着的单元格照样算进来，空白一参与运算就变成 0。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A2:.A101 表示"裁掉尾部空白"，等价于 TRIMRANGE 的第二参数。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头部加点裁头部，两头都加点两头一起裁，整列写成 A:.A 也很快。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要提醒的是：它只裁空白，单元格里真写的 0 裁不掉，那种情况得用 FILTER。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第二个符号是井号，叫溢出引用运算符。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比如 D2 写 UNIQUE，结果会向下溢出好几行。要引用这一整片结果，写 D2# 就行。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好处是公式只写一次：源数据多一行少一行，范围自动跟着变，不用手工改区间。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 D2# 里不要写行数，写了反而错。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第三个符号是艾特号，叫绝对交集运算符。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写在公式前面，作用是把数组压成一个值，只返回第一个结果。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它不挑大小、不挑最优，就是按顺序的第一条，这一点最容易误会。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另外，旧公式升级到 365 时 Excel 会自动补上这个符号，看到别慌。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33054" flipH="false" flipV="false">
            <a:off x="914431" y="1492250"/>
            <a:ext cx="132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914400" y="1651000"/>
            <a:ext cx="787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AA2FF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· 动态数组时代的引用写法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914400" y="2184400"/>
            <a:ext cx="8382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</a:t>
            </a:r>
            <a:b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新语法符号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4394200"/>
            <a:ext cx="7620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FFFFFF">
                    <a:alpha val="7411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三个符号，决定你的公式会不会报错、结果会不会平白多出一个 0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5588000"/>
            <a:ext cx="787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含 LET / FILTER / UNIQUE 实战改写 · 边界与易错点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601200" y="1498600"/>
            <a:ext cx="1524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600">
                <a:solidFill>
                  <a:srgbClr val="5A8CF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601200" y="25908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裁剪引用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601200" y="2997200"/>
            <a:ext cx="1524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600">
                <a:solidFill>
                  <a:srgbClr val="5A8CFF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601200" y="4089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溢出引用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9601200" y="4495800"/>
            <a:ext cx="1524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600">
                <a:solidFill>
                  <a:srgbClr val="5A8CFF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601200" y="55880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绝对交集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87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43000"/>
            <a:ext cx="965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四个问题，从报错写到能用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2489200"/>
            <a:ext cx="965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D4ED8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905000" y="25146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为什么结果里多出一个 0？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971800"/>
            <a:ext cx="368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788C"/>
                </a:solidFill>
                <a:latin typeface="Noto Sans SC"/>
                <a:ea typeface="Noto Sans SC"/>
                <a:cs typeface="Noto Sans SC"/>
                <a:sym typeface="Noto Sans SC"/>
              </a:rPr>
              <a:t>先看清问题出在哪：区域尾部的空白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604000" y="2489200"/>
            <a:ext cx="965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D4ED8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696200" y="25146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三个符号各管什么？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96200" y="2971800"/>
            <a:ext cx="368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788C"/>
                </a:solidFill>
                <a:latin typeface="Noto Sans SC"/>
                <a:ea typeface="Noto Sans SC"/>
                <a:cs typeface="Noto Sans SC"/>
                <a:sym typeface="Noto Sans SC"/>
              </a:rPr>
              <a:t>点号裁空白、井号接溢出、艾特压单值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131" flipH="false" flipV="false">
            <a:off x="812804" y="3905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132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812800" y="4191000"/>
            <a:ext cx="965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D4ED8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905000" y="42164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哪里最容易记混？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905000" y="4673600"/>
            <a:ext cx="368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788C"/>
                </a:solidFill>
                <a:latin typeface="Noto Sans SC"/>
                <a:ea typeface="Noto Sans SC"/>
                <a:cs typeface="Noto Sans SC"/>
                <a:sym typeface="Noto Sans SC"/>
              </a:rPr>
              <a:t>三组对比写法，一眼分清对错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604000" y="4191000"/>
            <a:ext cx="965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D4ED8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696200" y="42164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拿一个真实公式走一遍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696200" y="4673600"/>
            <a:ext cx="368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788C"/>
                </a:solidFill>
                <a:latin typeface="Noto Sans SC"/>
                <a:ea typeface="Noto Sans SC"/>
                <a:cs typeface="Noto Sans SC"/>
                <a:sym typeface="Noto Sans SC"/>
              </a:rPr>
              <a:t>LET + FILTER + UNIQUE 从报错改到能用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131" flipH="false" flipV="false">
            <a:off x="812804" y="5734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132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812800" y="58674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新语法符号速查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09200" y="58674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87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AA2FF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驱动问题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346200"/>
            <a:ext cx="10160000" cy="198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筛掉了 0，为什么结果里还是带着 0？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68169" flipH="false" flipV="false">
            <a:off x="127000" y="4438679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117600" y="37592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=UNIQUE(A2:A101) 一写下去，结果列尾平白多出一个 0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117600" y="4572000"/>
            <a:ext cx="939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LET 里写 n1, SEQUENCE(n1)，Excel 直接甩一个 #CALC! 给你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53848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先别急着改函数 —— 问题不在 UNIQUE，在你圈定的那块区域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131" flipH="false" flipV="false">
            <a:off x="812804" y="5962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12800" y="60706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3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新语法符号速查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09200" y="60706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38039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87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符号一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43000"/>
            <a:ext cx="1016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一个点号，把区域的尾巴裁干净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1955800"/>
            <a:ext cx="1056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478"/>
                </a:solidFill>
                <a:latin typeface="Noto Sans SC"/>
                <a:ea typeface="Noto Sans SC"/>
                <a:cs typeface="Noto Sans SC"/>
                <a:sym typeface="Noto Sans SC"/>
              </a:rPr>
              <a:t>A2:A101 会把尾部空白的单元格也一起读进来，空白的部分被当成 0；改写成 A2:.A101 之后，区域只算到最后一个非空单元格。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2800" y="3048000"/>
          <a:ext cx="10566400" cy="213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318000"/>
                <a:gridCol w="43434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等价写法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A2:.A101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只裁尾部空白（最常用）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A647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TRIMRANGE(A2:A101,2,2)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A2.:A101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只裁头部空白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A647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TRIMRANGE(A2:A101,1,1)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A2.:.A101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头尾空白一起裁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5A647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TRIMRANGE(A2:A101,3,3)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5435600"/>
            <a:ext cx="279400" cy="279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1219200" y="5410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边界：点号只裁空白。单元格里真写了数字 0，它裁不掉 —— 那要用 FILTER(区域, 区域&lt;&gt;0)。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131" flipH="false" flipV="false">
            <a:off x="812804" y="5962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132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12800" y="60706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新语法符号速查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09200" y="60706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87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符号二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43000"/>
            <a:ext cx="1054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公式只写一次，后面的全都跟着它变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1955800"/>
            <a:ext cx="1056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478"/>
                </a:solidFill>
                <a:latin typeface="Noto Sans SC"/>
                <a:ea typeface="Noto Sans SC"/>
                <a:cs typeface="Noto Sans SC"/>
                <a:sym typeface="Noto Sans SC"/>
              </a:rPr>
              <a:t>公式把一片结果溢出到下面的单元格之后，用左上角那个单元格加一个井号，就能引用这一整片结果 —— 不用猜它有几行。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" y="2870200"/>
            <a:ext cx="10566400" cy="1727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19200" y="31496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D2 =UNIQUE(A2:.A101)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317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结果从 D2 向下溢出成一列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219200" y="3911600"/>
            <a:ext cx="508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7AA2FF"/>
                </a:solidFill>
                <a:latin typeface="Roboto Mono"/>
                <a:ea typeface="Roboto Mono"/>
                <a:cs typeface="Roboto Mono"/>
                <a:sym typeface="Roboto Mono"/>
              </a:rPr>
              <a:t>F2 =FILTER(D2#, D2#&lt;&gt;0)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3937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D2# 指的就是那一整列结果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" y="4800600"/>
            <a:ext cx="105664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33333"/>
              </a:lnSpc>
              <a:buClr>
                <a:srgbClr val="2B2F36"/>
              </a:buClr>
              <a:buChar char="•"/>
              <a:defRPr/>
            </a:pPr>
            <a:r>
              <a:rPr lang="en-US" b="false" i="false" strike="noStrike" u="none" sz="15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井号后面不用写行数，溢出几行它就代表几行</a:t>
            </a:r>
            <a:endParaRPr lang="en-US" sz="1100"/>
          </a:p>
          <a:p>
            <a:pPr algn="l" indent="-190500" marL="190500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b="false" i="false" strike="noStrike" u="none" sz="15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源数据加一行、删一行，引用范围自动跟着变，不用重写公式</a:t>
            </a:r>
          </a:p>
          <a:p>
            <a:pPr algn="l" indent="-190500" marL="190500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b="false" i="false" strike="noStrike" u="none" sz="15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只想拿第一条、不要一片，那是下一页 &amp;#64; 的活</a:t>
            </a:r>
          </a:p>
        </p:txBody>
      </p:sp>
      <p:cxnSp>
        <p:nvCxnSpPr>
          <p:cNvPr name="Connector 11" id="11"/>
          <p:cNvCxnSpPr/>
          <p:nvPr/>
        </p:nvCxnSpPr>
        <p:spPr>
          <a:xfrm rot="-4131" flipH="false" flipV="false">
            <a:off x="812804" y="5962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132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812800" y="60706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新语法符号速查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09200" y="60706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87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符号三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43000"/>
            <a:ext cx="10541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只要第一条，就用 &amp;#64; 把数组压成一个值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1955800"/>
            <a:ext cx="10566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6478"/>
                </a:solidFill>
                <a:latin typeface="Noto Sans SC"/>
                <a:ea typeface="Noto Sans SC"/>
                <a:cs typeface="Noto Sans SC"/>
                <a:sym typeface="Noto Sans SC"/>
              </a:rPr>
              <a:t>在公式最前面加一个艾特号，数组就只返回第一个值，不再向下溢出。筛选的条件一个字都不用改，改的只是"输出几个"。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" y="2870200"/>
            <a:ext cx="10566400" cy="1422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219200" y="31496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7AA2FF"/>
                </a:solidFill>
                <a:latin typeface="Roboto Mono"/>
                <a:ea typeface="Roboto Mono"/>
                <a:cs typeface="Roboto Mono"/>
                <a:sym typeface="Roboto Mono"/>
              </a:rPr>
              <a:t>=&amp;#64;FILTER(A2:.A101, A2:.A101&gt;10)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19200" y="37592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满足条件的第一条，就落在这一个单元格里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12800" y="4648200"/>
            <a:ext cx="55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473200" y="4648200"/>
            <a:ext cx="990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只需要在一个单元格里拿到一个结果，不想让它溢出一片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" y="5105400"/>
            <a:ext cx="55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473200" y="5105400"/>
            <a:ext cx="990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老版本写好的公式升级到 365，Excel 会自动给它补上 &amp;#64;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" y="5562600"/>
            <a:ext cx="55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8720C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473200" y="5562600"/>
            <a:ext cx="990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8720C"/>
                </a:solidFill>
                <a:latin typeface="Noto Sans SC"/>
                <a:ea typeface="Noto Sans SC"/>
                <a:cs typeface="Noto Sans SC"/>
                <a:sym typeface="Noto Sans SC"/>
              </a:rPr>
              <a:t>别指望它挑出"最大"或"最优"的那个 —— 它只拿第一条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131" flipH="false" flipV="false">
            <a:off x="812804" y="5962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D132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 txBox="true"/>
          <p:nvPr/>
        </p:nvSpPr>
        <p:spPr>
          <a:xfrm rot="0" flipH="false" flipV="false">
            <a:off x="812800" y="60706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Noto Sans SC"/>
                <a:ea typeface="Noto Sans SC"/>
                <a:cs typeface="Noto Sans SC"/>
                <a:sym typeface="Noto Sans SC"/>
              </a:rPr>
              <a:t>Excel 365 新语法符号速查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09200" y="60706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94A0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{"Label":"1","ContentProducer":"001191110102MACQD9K64010000","ProduceID":"7693476311449078763","ReservedCode1":"","ContentPropagator":"","PropagateID":"","ReservedCode2":""}</vt:lpwstr>
  </property>
</Properties>
</file>